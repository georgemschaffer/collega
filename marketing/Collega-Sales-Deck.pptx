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6000" b="1">
                <a:solidFill>
                  <a:srgbClr val="F5A524"/>
                </a:solidFill>
                <a:latin typeface="IBM Plex Sans"/>
              </a:rPr>
              <a:t>Collega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E6E8EA"/>
                </a:solidFill>
                <a:latin typeface="IBM Plex Sans"/>
              </a:rPr>
              <a:t>Every idea, from first spark to shipped.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E6E8EA"/>
                </a:solidFill>
                <a:latin typeface="IBM Plex Sans"/>
              </a:rPr>
              <a:t>Capture it, rank it, deliver it — in one place.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9BA3AB"/>
                </a:solidFill>
                <a:latin typeface="IBM Plex Sans"/>
              </a:rPr>
              <a:t>Acme Robotics demo workspace · Sales deck</a:t>
            </a:r>
          </a:p>
        </p:txBody>
      </p:sp>
      <p:pic>
        <p:nvPicPr>
          <p:cNvPr id="5" name="Picture 4" descr="02-home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303520" cy="3314700"/>
          </a:xfrm>
          <a:prstGeom prst="rect">
            <a:avLst/>
          </a:prstGeom>
          <a:ln w="12700">
            <a:solidFill>
              <a:srgbClr val="2A2F35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0" cy="64008"/>
          </a:xfrm>
          <a:prstGeom prst="rect">
            <a:avLst/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E6E8EA"/>
                </a:solidFill>
                <a:latin typeface="IBM Plex Sans"/>
              </a:rPr>
              <a:t>Great ideas die in the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9BA3AB"/>
                </a:solidFill>
                <a:latin typeface="IBM Plex Sans"/>
              </a:rPr>
              <a:t>Where good work goes to disappear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3520440" cy="2926080"/>
          </a:xfrm>
          <a:prstGeom prst="roundRect">
            <a:avLst/>
          </a:prstGeom>
          <a:solidFill>
            <a:srgbClr val="16191C"/>
          </a:solidFill>
          <a:ln>
            <a:solidFill>
              <a:srgbClr val="2A2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6517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F5A524"/>
                </a:solidFill>
                <a:latin typeface="IBM Plex Sans"/>
              </a:rPr>
              <a:t>Scattered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3832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6E8EA"/>
                </a:solidFill>
                <a:latin typeface="IBM Plex Sans"/>
              </a:rPr>
              <a:t>Ideas live in chat, email, slide decks and spreadsheets. Nobody sees the whole picture.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377440"/>
            <a:ext cx="3520440" cy="2926080"/>
          </a:xfrm>
          <a:prstGeom prst="roundRect">
            <a:avLst/>
          </a:prstGeom>
          <a:solidFill>
            <a:srgbClr val="16191C"/>
          </a:solidFill>
          <a:ln>
            <a:solidFill>
              <a:srgbClr val="2A2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6517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F5A524"/>
                </a:solidFill>
                <a:latin typeface="IBM Plex Sans"/>
              </a:rPr>
              <a:t>Unranked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3832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6E8EA"/>
                </a:solidFill>
                <a:latin typeface="IBM Plex Sans"/>
              </a:rPr>
              <a:t>No shared way to vote, prioritise or decide — loudest voice wins.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377440"/>
            <a:ext cx="3520440" cy="2926080"/>
          </a:xfrm>
          <a:prstGeom prst="roundRect">
            <a:avLst/>
          </a:prstGeom>
          <a:solidFill>
            <a:srgbClr val="16191C"/>
          </a:solidFill>
          <a:ln>
            <a:solidFill>
              <a:srgbClr val="2A2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6517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F5A524"/>
                </a:solidFill>
                <a:latin typeface="IBM Plex Sans"/>
              </a:rPr>
              <a:t>Disconnected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3832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6E8EA"/>
                </a:solidFill>
                <a:latin typeface="IBM Plex Sans"/>
              </a:rPr>
              <a:t>The idea that was approved is not the ticket being built. Context is lost at hand-off.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0" cy="64008"/>
          </a:xfrm>
          <a:prstGeom prst="rect">
            <a:avLst/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E6E8EA"/>
                </a:solidFill>
                <a:latin typeface="IBM Plex Sans"/>
              </a:rPr>
              <a:t>One workspace, idea to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9BA3AB"/>
                </a:solidFill>
                <a:latin typeface="IBM Plex Sans"/>
              </a:rPr>
              <a:t>Collega keeps the people, comments and history attached the whole way</a:t>
            </a:r>
          </a:p>
        </p:txBody>
      </p:sp>
      <p:sp>
        <p:nvSpPr>
          <p:cNvPr id="5" name="Pentagon 4"/>
          <p:cNvSpPr/>
          <p:nvPr/>
        </p:nvSpPr>
        <p:spPr>
          <a:xfrm>
            <a:off x="548640" y="2560320"/>
            <a:ext cx="2240280" cy="1005840"/>
          </a:xfrm>
          <a:prstGeom prst="homePlate">
            <a:avLst/>
          </a:prstGeom>
          <a:solidFill>
            <a:srgbClr val="16191C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8346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E6E8EA"/>
                </a:solidFill>
                <a:latin typeface="IBM Plex Sans"/>
              </a:rPr>
              <a:t>New / Pending</a:t>
            </a:r>
          </a:p>
        </p:txBody>
      </p:sp>
      <p:sp>
        <p:nvSpPr>
          <p:cNvPr id="7" name="Chevron 6"/>
          <p:cNvSpPr/>
          <p:nvPr/>
        </p:nvSpPr>
        <p:spPr>
          <a:xfrm>
            <a:off x="2834640" y="2560320"/>
            <a:ext cx="2240280" cy="1005840"/>
          </a:xfrm>
          <a:prstGeom prst="chevron">
            <a:avLst/>
          </a:prstGeom>
          <a:solidFill>
            <a:srgbClr val="16191C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80" y="28346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E6E8EA"/>
                </a:solidFill>
                <a:latin typeface="IBM Plex Sans"/>
              </a:rPr>
              <a:t>In Review</a:t>
            </a:r>
          </a:p>
        </p:txBody>
      </p:sp>
      <p:sp>
        <p:nvSpPr>
          <p:cNvPr id="9" name="Chevron 8"/>
          <p:cNvSpPr/>
          <p:nvPr/>
        </p:nvSpPr>
        <p:spPr>
          <a:xfrm>
            <a:off x="5120640" y="2560320"/>
            <a:ext cx="2240280" cy="1005840"/>
          </a:xfrm>
          <a:prstGeom prst="chevron">
            <a:avLst/>
          </a:prstGeom>
          <a:solidFill>
            <a:srgbClr val="16191C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79" y="28346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E6E8EA"/>
                </a:solidFill>
                <a:latin typeface="IBM Plex Sans"/>
              </a:rPr>
              <a:t>In Progress</a:t>
            </a:r>
          </a:p>
        </p:txBody>
      </p:sp>
      <p:sp>
        <p:nvSpPr>
          <p:cNvPr id="11" name="Chevron 10"/>
          <p:cNvSpPr/>
          <p:nvPr/>
        </p:nvSpPr>
        <p:spPr>
          <a:xfrm>
            <a:off x="7406640" y="2560320"/>
            <a:ext cx="2240280" cy="1005840"/>
          </a:xfrm>
          <a:prstGeom prst="chevron">
            <a:avLst/>
          </a:prstGeom>
          <a:solidFill>
            <a:srgbClr val="16191C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28346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E6E8EA"/>
                </a:solidFill>
                <a:latin typeface="IBM Plex Sans"/>
              </a:rPr>
              <a:t>Client Review</a:t>
            </a:r>
          </a:p>
        </p:txBody>
      </p:sp>
      <p:sp>
        <p:nvSpPr>
          <p:cNvPr id="13" name="Chevron 12"/>
          <p:cNvSpPr/>
          <p:nvPr/>
        </p:nvSpPr>
        <p:spPr>
          <a:xfrm>
            <a:off x="9692640" y="2560320"/>
            <a:ext cx="2240280" cy="1005840"/>
          </a:xfrm>
          <a:prstGeom prst="chevron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12680" y="28346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16120A"/>
                </a:solidFill>
                <a:latin typeface="IBM Plex Sans"/>
              </a:rPr>
              <a:t>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E6E8EA"/>
                </a:solidFill>
                <a:latin typeface="IBM Plex Sans"/>
              </a:rPr>
              <a:t>Capture ideas on boards, vote and prioritise, then promote the winners into delivery issues on a sprint.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6E8EA"/>
                </a:solidFill>
                <a:latin typeface="IBM Plex Sans"/>
              </a:rPr>
              <a:t>Every status change, assignee and comment travels with the idea — nothing to re-explain at hand-off.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0" cy="64008"/>
          </a:xfrm>
          <a:prstGeom prst="rect">
            <a:avLst/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E6E8EA"/>
                </a:solidFill>
                <a:latin typeface="IBM Plex Sans"/>
              </a:rPr>
              <a:t>Boards that match how teams think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9BA3AB"/>
                </a:solidFill>
                <a:latin typeface="IBM Plex Sans"/>
              </a:rPr>
              <a:t>Lanes by status, drag a card to move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4206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6E8EA"/>
                </a:solidFill>
                <a:latin typeface="IBM Plex Sans"/>
              </a:rPr>
              <a:t>Kanban lanes from New to Complete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E8EA"/>
                </a:solidFill>
                <a:latin typeface="IBM Plex Sans"/>
              </a:rPr>
              <a:t>Priority, assignees, tags and votes on every card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E8EA"/>
                </a:solidFill>
                <a:latin typeface="IBM Plex Sans"/>
              </a:rPr>
              <a:t>Keyboard-friendly: focus a title, press ← →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E8EA"/>
                </a:solidFill>
                <a:latin typeface="IBM Plex Sans"/>
              </a:rPr>
              <a:t>Multiple boards per organization — one per team or theme</a:t>
            </a:r>
          </a:p>
        </p:txBody>
      </p:sp>
      <p:pic>
        <p:nvPicPr>
          <p:cNvPr id="6" name="Picture 5" descr="06-board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103120"/>
            <a:ext cx="6858000" cy="4286250"/>
          </a:xfrm>
          <a:prstGeom prst="rect">
            <a:avLst/>
          </a:prstGeom>
          <a:ln w="12700">
            <a:solidFill>
              <a:srgbClr val="2A2F35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0" cy="64008"/>
          </a:xfrm>
          <a:prstGeom prst="rect">
            <a:avLst/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E6E8EA"/>
                </a:solidFill>
                <a:latin typeface="IBM Plex Sans"/>
              </a:rPr>
              <a:t>See every idea in one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9BA3AB"/>
                </a:solidFill>
                <a:latin typeface="IBM Plex Sans"/>
              </a:rPr>
              <a:t>Filter, sort and open any idea to read and 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4206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6E8EA"/>
                </a:solidFill>
                <a:latin typeface="IBM Plex Sans"/>
              </a:rPr>
              <a:t>Filter by board, status, priority and tags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E8EA"/>
                </a:solidFill>
                <a:latin typeface="IBM Plex Sans"/>
              </a:rPr>
              <a:t>List or card view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E8EA"/>
                </a:solidFill>
                <a:latin typeface="IBM Plex Sans"/>
              </a:rPr>
              <a:t>Upvotes surface what the team actually wants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E8EA"/>
                </a:solidFill>
                <a:latin typeface="IBM Plex Sans"/>
              </a:rPr>
              <a:t>Add an idea in a keystroke</a:t>
            </a:r>
          </a:p>
        </p:txBody>
      </p:sp>
      <p:pic>
        <p:nvPicPr>
          <p:cNvPr id="6" name="Picture 5" descr="03-ideas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103120"/>
            <a:ext cx="6858000" cy="4286250"/>
          </a:xfrm>
          <a:prstGeom prst="rect">
            <a:avLst/>
          </a:prstGeom>
          <a:ln w="12700">
            <a:solidFill>
              <a:srgbClr val="2A2F35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0" cy="64008"/>
          </a:xfrm>
          <a:prstGeom prst="rect">
            <a:avLst/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E6E8EA"/>
                </a:solidFill>
                <a:latin typeface="IBM Plex Sans"/>
              </a:rPr>
              <a:t>From approved idea to delivered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9BA3AB"/>
                </a:solidFill>
                <a:latin typeface="IBM Plex Sans"/>
              </a:rPr>
              <a:t>Sprint board, backlog and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4206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6E8EA"/>
                </a:solidFill>
                <a:latin typeface="IBM Plex Sans"/>
              </a:rPr>
              <a:t>Sprint board with lanes from Pending to Complete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E8EA"/>
                </a:solidFill>
                <a:latin typeface="IBM Plex Sans"/>
              </a:rPr>
              <a:t>Effort sizing on every issue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E8EA"/>
                </a:solidFill>
                <a:latin typeface="IBM Plex Sans"/>
              </a:rPr>
              <a:t>Only the owner, an assignee or an admin can move an issue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E8EA"/>
                </a:solidFill>
                <a:latin typeface="IBM Plex Sans"/>
              </a:rPr>
              <a:t>Backlog to plan the next sprint</a:t>
            </a:r>
          </a:p>
        </p:txBody>
      </p:sp>
      <p:pic>
        <p:nvPicPr>
          <p:cNvPr id="6" name="Picture 5" descr="09-sprint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103120"/>
            <a:ext cx="6858000" cy="4286250"/>
          </a:xfrm>
          <a:prstGeom prst="rect">
            <a:avLst/>
          </a:prstGeom>
          <a:ln w="12700">
            <a:solidFill>
              <a:srgbClr val="2A2F35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0" cy="64008"/>
          </a:xfrm>
          <a:prstGeom prst="rect">
            <a:avLst/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E6E8EA"/>
                </a:solidFill>
                <a:latin typeface="IBM Plex Sans"/>
              </a:rPr>
              <a:t>Start the day knowing what needs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9BA3AB"/>
                </a:solidFill>
                <a:latin typeface="IBM Plex Sans"/>
              </a:rPr>
              <a:t>A personal home built around your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4206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6E8EA"/>
                </a:solidFill>
                <a:latin typeface="IBM Plex Sans"/>
              </a:rPr>
              <a:t>Assigned to me, critical &amp; high priority, created by you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E8EA"/>
                </a:solidFill>
                <a:latin typeface="IBM Plex Sans"/>
              </a:rPr>
              <a:t>Needs-your-attention list, oldest first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E8EA"/>
                </a:solidFill>
                <a:latin typeface="IBM Plex Sans"/>
              </a:rPr>
              <a:t>Ctrl K to jump to anything — or type "new idea"</a:t>
            </a:r>
          </a:p>
        </p:txBody>
      </p:sp>
      <p:pic>
        <p:nvPicPr>
          <p:cNvPr id="6" name="Picture 5" descr="02-home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103120"/>
            <a:ext cx="6858000" cy="4286250"/>
          </a:xfrm>
          <a:prstGeom prst="rect">
            <a:avLst/>
          </a:prstGeom>
          <a:ln w="12700">
            <a:solidFill>
              <a:srgbClr val="2A2F35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0" cy="64008"/>
          </a:xfrm>
          <a:prstGeom prst="rect">
            <a:avLst/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E6E8EA"/>
                </a:solidFill>
                <a:latin typeface="IBM Plex Sans"/>
              </a:rPr>
              <a:t>AI-assisted idea authoring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9BA3AB"/>
                </a:solidFill>
                <a:latin typeface="IBM Plex Sans"/>
              </a:rPr>
              <a:t>Turn a rough thought into a clear, complete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4206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6E8EA"/>
                </a:solidFill>
                <a:latin typeface="IBM Plex Sans"/>
              </a:rPr>
              <a:t>Assist helps draft and sharpen idea descriptions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E8EA"/>
                </a:solidFill>
                <a:latin typeface="IBM Plex Sans"/>
              </a:rPr>
              <a:t>Admins control the AI settings and prompt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E8EA"/>
                </a:solidFill>
                <a:latin typeface="IBM Plex Sans"/>
              </a:rPr>
              <a:t>Usage is visible to administrators</a:t>
            </a:r>
          </a:p>
        </p:txBody>
      </p:sp>
      <p:pic>
        <p:nvPicPr>
          <p:cNvPr id="6" name="Picture 5" descr="12-ai-assist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103120"/>
            <a:ext cx="6858000" cy="4286250"/>
          </a:xfrm>
          <a:prstGeom prst="rect">
            <a:avLst/>
          </a:prstGeom>
          <a:ln w="12700">
            <a:solidFill>
              <a:srgbClr val="2A2F35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0" cy="64008"/>
          </a:xfrm>
          <a:prstGeom prst="rect">
            <a:avLst/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E6E8EA"/>
                </a:solidFill>
                <a:latin typeface="IBM Plex Sans"/>
              </a:rPr>
              <a:t>Built for admins, comfortable for everyone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9BA3AB"/>
                </a:solidFill>
                <a:latin typeface="IBM Plex Sans"/>
              </a:rPr>
              <a:t>Roles, custom fields and your own 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4206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6E8EA"/>
                </a:solidFill>
                <a:latin typeface="IBM Plex Sans"/>
              </a:rPr>
              <a:t>Org Admins, members and read-only roles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E8EA"/>
                </a:solidFill>
                <a:latin typeface="IBM Plex Sans"/>
              </a:rPr>
              <a:t>Custom fields, field sets and idea types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E8EA"/>
                </a:solidFill>
                <a:latin typeface="IBM Plex Sans"/>
              </a:rPr>
              <a:t>Five themes — Graphite dark by default, Terrazzo light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E8EA"/>
                </a:solidFill>
                <a:latin typeface="IBM Plex Sans"/>
              </a:rPr>
              <a:t>User management and bulk import</a:t>
            </a:r>
          </a:p>
        </p:txBody>
      </p:sp>
      <p:pic>
        <p:nvPicPr>
          <p:cNvPr id="6" name="Picture 5" descr="13-users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103120"/>
            <a:ext cx="6858000" cy="4286250"/>
          </a:xfrm>
          <a:prstGeom prst="rect">
            <a:avLst/>
          </a:prstGeom>
          <a:ln w="12700">
            <a:solidFill>
              <a:srgbClr val="2A2F35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0" cy="64008"/>
          </a:xfrm>
          <a:prstGeom prst="rect">
            <a:avLst/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E6E8EA"/>
                </a:solidFill>
                <a:latin typeface="IBM Plex Sans"/>
              </a:rPr>
              <a:t>Light or dark — your 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9BA3AB"/>
                </a:solidFill>
                <a:latin typeface="IBM Plex Sans"/>
              </a:rPr>
              <a:t>Five themes, remembered per browser</a:t>
            </a:r>
          </a:p>
        </p:txBody>
      </p:sp>
      <p:pic>
        <p:nvPicPr>
          <p:cNvPr id="5" name="Picture 4" descr="22-board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5486400" cy="3429000"/>
          </a:xfrm>
          <a:prstGeom prst="rect">
            <a:avLst/>
          </a:prstGeom>
          <a:ln w="12700">
            <a:solidFill>
              <a:srgbClr val="2A2F35"/>
            </a:solidFill>
          </a:ln>
        </p:spPr>
      </p:pic>
      <p:pic>
        <p:nvPicPr>
          <p:cNvPr id="6" name="Picture 5" descr="06-board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03120"/>
            <a:ext cx="5486400" cy="3429000"/>
          </a:xfrm>
          <a:prstGeom prst="rect">
            <a:avLst/>
          </a:prstGeom>
          <a:ln w="12700">
            <a:solidFill>
              <a:srgbClr val="2A2F35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0" cy="64008"/>
          </a:xfrm>
          <a:prstGeom prst="rect">
            <a:avLst/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400" b="1">
                <a:solidFill>
                  <a:srgbClr val="E6E8EA"/>
                </a:solidFill>
                <a:latin typeface="IBM Plex Sans"/>
              </a:rPr>
              <a:t>See Collega on your own ideas.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9BA3AB"/>
                </a:solidFill>
                <a:latin typeface="IBM Plex Sans"/>
              </a:rPr>
              <a:t>Book a 30-minute walkthrough · Pilot with one team · Scale to the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F5A524"/>
                </a:solidFill>
                <a:latin typeface="IBM Plex Sans"/>
              </a:rPr>
              <a:t>collega · idea management with delivery built 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