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2424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42424"/>
                </a:solidFill>
                <a:latin typeface="Cambria"/>
              </a:rPr>
              <a:t>Automated tests by layer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5B5F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846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5F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5F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5F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5FC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Domain</c:v>
                  </c:pt>
                  <c:pt idx="1">
                    <c:v>Application</c:v>
                  </c:pt>
                  <c:pt idx="2">
                    <c:v>Infrastructure</c:v>
                  </c:pt>
                  <c:pt idx="3">
                    <c:v>API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113</c:v>
                </c:pt>
                <c:pt idx="1">
                  <c:v>230</c:v>
                </c:pt>
                <c:pt idx="2">
                  <c:v>122</c:v>
                </c:pt>
                <c:pt idx="3">
                  <c:v>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846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846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2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B5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 is a collaboration tool for process-improvement ideas. Trello-like in shape — organizations, boards, statuses, swimlanes — but built for idea intake rather than engineering tickets. The wedge is the AI assistant that drafts and classifies ideas inside the organization's own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failures compound: no intake surface, no structure on what comes in, and no feedback loop back to the submitter. The third one is what kills the program — people stop contributing once ideas visibly vanish.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claim that Jira is bad — a claim that intake is a different problem. The moment you ask a non-technical contributor to file a Jira ticket, contribution rate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left to right. Emphasise step 5 feeding back into step 1 — notifications on status change and comments are what sustain contribution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surface people live in. Point out that the card is deliberately dense — a triage decision should be possible without opening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differentiator. Two mechanisms doing two jobs: grounding gives it the org's vocabulary, containment keeps it from becoming a general chatbot inside a business tool. Conflating them is the standard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technical audience pushes on the AI story, this is the slide that earns credibility. The scope statement is per-organization and retunable without a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Tenancy is the part that is expensive to retrofit and cheap to design in. View As is worth calling out to anyone who has run a support org — dual attribution means an admin action inside a customer's data is always attributable to both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here: an organization can model its own improvement programme on day one without asking anyone to deploy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technical audience. The line that lands: the AI assistant is a client of the same rules, not a second write path — which is what keeps an LLM feature from becoming an authorization 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'can I put my company's data in it'. The last line pre-empts the obvious SSO question and frames the sequencing as a decision rather than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the current development branch and move; re-check before presenting. The point is not the count, it is the distribution — the rule-bearing layers are the tested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three columns to the audience. For investors, emphasise SSO and reporting as enterprise unlocks; for an internal sponsor, emphasise deployment and notifications as the adoption unlocks.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loss framing, then hand over to whichever of the three next steps fits the room. Keep the live board demo to two minutes — submit an idea through the assistant and watch it land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8580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A9A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good ideas stop disappearing.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3611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6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organization-scoped platform for capturing, classifying, and actually delivering process improvement ideas — with an AI assistant that drafts them in your organization's own vocabulary.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1600200" cy="310896"/>
          </a:xfrm>
          <a:prstGeom prst="roundRect">
            <a:avLst>
              <a:gd name="adj" fmla="val 47059"/>
            </a:avLst>
          </a:prstGeom>
          <a:solidFill>
            <a:srgbClr val="3A3C85"/>
          </a:solidFill>
          <a:ln w="12700">
            <a:solidFill>
              <a:srgbClr val="3A3C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29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INTAKE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5029200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5029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5029200"/>
            <a:ext cx="1965960" cy="310896"/>
          </a:xfrm>
          <a:prstGeom prst="roundRect">
            <a:avLst>
              <a:gd name="adj" fmla="val 47059"/>
            </a:avLst>
          </a:prstGeom>
          <a:solidFill>
            <a:srgbClr val="3A3C85"/>
          </a:solidFill>
          <a:ln w="12700">
            <a:solidFill>
              <a:srgbClr val="3A3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50292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1417320"/>
            <a:ext cx="3886200" cy="4206240"/>
          </a:xfrm>
          <a:prstGeom prst="roundRect">
            <a:avLst>
              <a:gd name="adj" fmla="val 188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1272" y="1737360"/>
            <a:ext cx="109728" cy="109728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91272" y="2057400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194560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331720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496312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A9ABE4"/>
          </a:solidFill>
          <a:ln w="12700">
            <a:solidFill>
              <a:srgbClr val="A9A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91272" y="2898648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035808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3172968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337560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3739896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877056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4014216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4178808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A9ABE4"/>
          </a:solidFill>
          <a:ln w="12700">
            <a:solidFill>
              <a:srgbClr val="A9A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737360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89136" y="2057400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8864" y="2194560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98864" y="2331720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98864" y="2496312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A9ABE4"/>
          </a:solidFill>
          <a:ln w="12700">
            <a:solidFill>
              <a:srgbClr val="A9A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9136" y="2898648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98864" y="3035808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8864" y="3172968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8864" y="3337560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87000" y="1737360"/>
            <a:ext cx="109728" cy="109728"/>
          </a:xfrm>
          <a:prstGeom prst="ellipse">
            <a:avLst/>
          </a:prstGeom>
          <a:solidFill>
            <a:srgbClr val="7FD1B9"/>
          </a:solidFill>
          <a:ln w="12700">
            <a:solidFill>
              <a:srgbClr val="7FD1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51592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287000" y="2057400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96728" y="2194560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96728" y="2331720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96728" y="2496312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A9ABE4"/>
          </a:solidFill>
          <a:ln w="12700">
            <a:solidFill>
              <a:srgbClr val="A9A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87000" y="2898648"/>
            <a:ext cx="1024128" cy="713232"/>
          </a:xfrm>
          <a:prstGeom prst="roundRect">
            <a:avLst>
              <a:gd name="adj" fmla="val 6410"/>
            </a:avLst>
          </a:prstGeom>
          <a:solidFill>
            <a:srgbClr val="474AA0"/>
          </a:solidFill>
          <a:ln w="12700">
            <a:solidFill>
              <a:srgbClr val="5A5D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96728" y="3035808"/>
            <a:ext cx="777240" cy="64008"/>
          </a:xfrm>
          <a:prstGeom prst="rect">
            <a:avLst/>
          </a:prstGeom>
          <a:solidFill>
            <a:srgbClr val="8386CF"/>
          </a:solidFill>
          <a:ln w="12700">
            <a:solidFill>
              <a:srgbClr val="8386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96728" y="3172968"/>
            <a:ext cx="548640" cy="64008"/>
          </a:xfrm>
          <a:prstGeom prst="rect">
            <a:avLst/>
          </a:prstGeom>
          <a:solidFill>
            <a:srgbClr val="6A6DBD"/>
          </a:solidFill>
          <a:ln w="12700">
            <a:solidFill>
              <a:srgbClr val="6A6D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3337560"/>
            <a:ext cx="384048" cy="155448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ideas die in the gap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person who has the idea and the system that could act on it, there is usually nothing.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6194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front door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arrive as emails, hallway asides and spreadsheet rows. Nobody owns the list, so nobody works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3504" y="1965960"/>
            <a:ext cx="336194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3544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33544" y="278892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language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33544" y="324612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someone types is not a classification. Type, impact and priority get re-entered by hand — or never.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41208" y="1965960"/>
            <a:ext cx="336194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1248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61248" y="2788920"/>
            <a:ext cx="2721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visible fate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61248" y="3246120"/>
            <a:ext cx="2721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submitter never learns what happened. So they stop submitting, and the pipeline dries up.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20640"/>
            <a:ext cx="10085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organizations that most need process improvement are the ones least likely to have a tool for it — so the work goes into a ticket tracker built for something else, or nowhere at all.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ticket tracker is the wrong shape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and Trello assume the work is already defined. Idea intake is the part that happens before that.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80076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40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TRACKER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work already scoped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44485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defined unit of work arrives with an owner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a project-admin task, not a product surface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need a licence and training to file anything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Cross-organization tenancy is bolted on, not native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965960"/>
            <a:ext cx="5180076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8836" y="2240280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8836" y="2240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88836" y="269748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44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idea before it is work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88836" y="3200400"/>
            <a:ext cx="44485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the organization can submit; read-only staff can still comment and upvote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Type and Business Impact are first-class, org-configured fields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drafts and classifies the idea during submission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scoping is the foundation, not a plugin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is deliberately narrow. It does one job — turn a half-formed improvement idea into a tracked, classified, visible piece of work.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end to end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travels the same path — and the person who submitted it can watch it move.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944014" cy="2651760"/>
          </a:xfrm>
          <a:prstGeom prst="roundRect">
            <a:avLst>
              <a:gd name="adj" fmla="val 282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450592"/>
            <a:ext cx="420624" cy="42062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301752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3456432"/>
            <a:ext cx="13587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or form. No training required.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1526" y="32461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38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04134" y="2148840"/>
            <a:ext cx="1944014" cy="2651760"/>
          </a:xfrm>
          <a:prstGeom prst="roundRect">
            <a:avLst>
              <a:gd name="adj" fmla="val 282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6742" y="2450592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6742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96742" y="301752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96742" y="3456432"/>
            <a:ext cx="13587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impact, priority, tags — suggested, then confirmed.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9861" y="32461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38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22469" y="2148840"/>
            <a:ext cx="1944014" cy="2651760"/>
          </a:xfrm>
          <a:prstGeom prst="roundRect">
            <a:avLst>
              <a:gd name="adj" fmla="val 282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5077" y="2450592"/>
            <a:ext cx="420624" cy="42062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5077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15077" y="301752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15077" y="3456432"/>
            <a:ext cx="13587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@mentions, upvotes from the whole organization.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8195" y="32461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38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40803" y="2148840"/>
            <a:ext cx="1944014" cy="2651760"/>
          </a:xfrm>
          <a:prstGeom prst="roundRect">
            <a:avLst>
              <a:gd name="adj" fmla="val 282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3411" y="2450592"/>
            <a:ext cx="420624" cy="42062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3411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33411" y="301752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3411" y="3456432"/>
            <a:ext cx="13587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 make the queue and its weight visible.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6530" y="32461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38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59138" y="2148840"/>
            <a:ext cx="1944014" cy="2651760"/>
          </a:xfrm>
          <a:prstGeom prst="roundRect">
            <a:avLst>
              <a:gd name="adj" fmla="val 2822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1746" y="2450592"/>
            <a:ext cx="420624" cy="42062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51746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51746" y="301752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51746" y="3456432"/>
            <a:ext cx="13587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moves; author and assignees are notified.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closes. That is the whole product thesis — a submitter who sees movement submits again.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is the product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as cards, statuses as swimlanes, and everything an organization needs to triage on the card face.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Improvement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09560" y="2048256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ideas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12680" y="2048256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204825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IDEA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2670048"/>
            <a:ext cx="128016" cy="128016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9718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31181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32644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4564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FBE3EE"/>
          </a:solidFill>
          <a:ln w="12700">
            <a:solidFill>
              <a:srgbClr val="FB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34564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5768" y="34290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34290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8862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0325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41788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3708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4208" y="43708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15768" y="43434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98648" y="43434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8006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49469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50932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52852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4208" y="52852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5768" y="52578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98648" y="52578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670048"/>
            <a:ext cx="128016" cy="128016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96128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29718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4760" y="31181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4760" y="32644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34564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FBE3EE"/>
          </a:solidFill>
          <a:ln w="12700">
            <a:solidFill>
              <a:srgbClr val="FBE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15968" y="34564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67528" y="34290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50408" y="34290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0" y="38862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94760" y="40325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41788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43708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15968" y="43708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7528" y="43434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50408" y="43434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2670048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47888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09360" y="29718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46520" y="31181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32644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34564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FBE3EE"/>
          </a:solidFill>
          <a:ln w="12700">
            <a:solidFill>
              <a:srgbClr val="FBE3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67728" y="34564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19288" y="34290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02168" y="34290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09360" y="38862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46520" y="40325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6520" y="41788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46520" y="43708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43708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19288" y="43434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02168" y="43434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61120" y="2670048"/>
            <a:ext cx="128016" cy="128016"/>
          </a:xfrm>
          <a:prstGeom prst="ellipse">
            <a:avLst/>
          </a:prstGeom>
          <a:solidFill>
            <a:srgbClr val="0E700E"/>
          </a:solidFill>
          <a:ln w="12700">
            <a:solidFill>
              <a:srgbClr val="0E700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6228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899648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961120" y="2971800"/>
            <a:ext cx="2395728" cy="786384"/>
          </a:xfrm>
          <a:prstGeom prst="roundRect">
            <a:avLst>
              <a:gd name="adj" fmla="val 5814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98280" y="3118104"/>
            <a:ext cx="1892808" cy="73152"/>
          </a:xfrm>
          <a:prstGeom prst="rect">
            <a:avLst/>
          </a:prstGeom>
          <a:solidFill>
            <a:srgbClr val="C9C6C2"/>
          </a:solidFill>
          <a:ln w="12700">
            <a:solidFill>
              <a:srgbClr val="C9C6C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98280" y="3264408"/>
            <a:ext cx="1389888" cy="73152"/>
          </a:xfrm>
          <a:prstGeom prst="rect">
            <a:avLst/>
          </a:prstGeom>
          <a:solidFill>
            <a:srgbClr val="DAD7D3"/>
          </a:solidFill>
          <a:ln w="12700">
            <a:solidFill>
              <a:srgbClr val="DAD7D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98280" y="3456432"/>
            <a:ext cx="457200" cy="173736"/>
          </a:xfrm>
          <a:prstGeom prst="roundRect">
            <a:avLst>
              <a:gd name="adj" fmla="val 47368"/>
            </a:avLst>
          </a:prstGeom>
          <a:solidFill>
            <a:srgbClr val="FBE3EE"/>
          </a:solidFill>
          <a:ln w="12700">
            <a:solidFill>
              <a:srgbClr val="FBE3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19488" y="3456432"/>
            <a:ext cx="566928" cy="173736"/>
          </a:xfrm>
          <a:prstGeom prst="roundRect">
            <a:avLst>
              <a:gd name="adj" fmla="val 47368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71048" y="3429000"/>
            <a:ext cx="219456" cy="219456"/>
          </a:xfrm>
          <a:prstGeom prst="ellipse">
            <a:avLst/>
          </a:prstGeom>
          <a:solidFill>
            <a:srgbClr val="C9CAE8"/>
          </a:solidFill>
          <a:ln w="12700">
            <a:solidFill>
              <a:srgbClr val="C9CA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53928" y="3429000"/>
            <a:ext cx="219456" cy="219456"/>
          </a:xfrm>
          <a:prstGeom prst="ellipse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85800" y="5971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1832" y="5925312"/>
            <a:ext cx="3166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business impact, tags, assignees and age — all on the card face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383024" y="5971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39056" y="5925312"/>
            <a:ext cx="3166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move, or change status from the detail drawer; keyboard and touch both work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080248" y="5971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36280" y="5925312"/>
            <a:ext cx="3166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upvotes are open to every member, including read-only staff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assistant that knows your organization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that drafts the idea and fills the classification — using your Idea Types, your Business Impacts, your vocabulary.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215798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Drafts, never writes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4871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proposes a title, description, type, impact and priority. The user confirms. Existing validation is still the only thing that authorizes a write.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364992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310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your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69417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are drawn from the caller's own organization — real, active options, never invented and never from another tenant.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5171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on the subject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90118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turns are refused and dropped from the transcript, with a boundary each organization tunes in plain language.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1920240"/>
            <a:ext cx="455371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2084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an idea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2487168"/>
            <a:ext cx="2880360" cy="603504"/>
          </a:xfrm>
          <a:prstGeom prst="roundRect">
            <a:avLst>
              <a:gd name="adj" fmla="val 106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4871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take three sign-offs and a week.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05472" y="3218688"/>
            <a:ext cx="3200400" cy="786384"/>
          </a:xfrm>
          <a:prstGeom prst="roundRect">
            <a:avLst>
              <a:gd name="adj" fmla="val 8140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321868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adds the most delay — and who owns it today?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05472" y="4187952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E1F1F2"/>
          </a:solidFill>
          <a:ln w="12700">
            <a:solidFill>
              <a:srgbClr val="BF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SO FAR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42632" y="4535424"/>
            <a:ext cx="868680" cy="274320"/>
          </a:xfrm>
          <a:prstGeom prst="roundRect">
            <a:avLst>
              <a:gd name="adj" fmla="val 4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4535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57616" y="4535424"/>
            <a:ext cx="1143000" cy="274320"/>
          </a:xfrm>
          <a:prstGeom prst="roundRect">
            <a:avLst>
              <a:gd name="adj" fmla="val 4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45354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46920" y="4535424"/>
            <a:ext cx="502920" cy="274320"/>
          </a:xfrm>
          <a:prstGeom prst="roundRect">
            <a:avLst>
              <a:gd name="adj" fmla="val 4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535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05472" y="512064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AF9F8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more…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241280" y="5157216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51572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603504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9A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always means suggested — never selected. The user can leave for the plain form at any point.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mechanisms, two jobs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features in business tools ship one of these and assume it does both. It does not.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80076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40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72491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it speaks your language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44485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assembles context from the caller's own organization — active Idea Types with their field sets, Business Impacts, board statuses, existing tags, members. The client never sends a prompt, a model name, or context of its own.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965960"/>
            <a:ext cx="5180076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8836" y="224028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8836" y="2240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88836" y="272491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it stays an idea tool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88836" y="3200400"/>
            <a:ext cx="44485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tested every turn against the organization's active Idea Types plus a free-text statement its own admin writes. Refused turns never enter the transcript, so off-topic context cannot accumulate and drift the assistant into a worse general chatbot.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631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34924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not containment. A retrieval-grounded model answers off-topic questions from its own weights the moment retrieval returns nothing relevant — which is exactly when someone is off topic.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Multi-organization from the first table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every mutation is organization-scoped. Four roles, one membership each, email unique across the platform.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98598" cy="2606040"/>
          </a:xfrm>
          <a:prstGeom prst="roundRect">
            <a:avLst>
              <a:gd name="adj" fmla="val 2196"/>
            </a:avLst>
          </a:prstGeom>
          <a:solidFill>
            <a:srgbClr val="EEF0FB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4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Admin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578608"/>
            <a:ext cx="19499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B5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19499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organizations and their first users. Everything else it does inside an organization, it does as a member of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8718" y="1965960"/>
            <a:ext cx="2498598" cy="260604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33038" y="21945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Admin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33038" y="2578608"/>
            <a:ext cx="19499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33038" y="2926080"/>
            <a:ext cx="19499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statuses, idea types, business impacts, custom fields, users, CSV import.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2498598" cy="260604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05956" y="21945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05956" y="2578608"/>
            <a:ext cx="19499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05956" y="2926080"/>
            <a:ext cx="19499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and edits ideas, comments, mentions, upvotes, moves work across the board.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4554" y="1965960"/>
            <a:ext cx="2498598" cy="260604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8874" y="2194560"/>
            <a:ext cx="1949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Only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78874" y="2578608"/>
            <a:ext cx="19499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78874" y="2926080"/>
            <a:ext cx="19499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visibility, plus comments and upvotes — participation without edit rights.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00600"/>
            <a:ext cx="108173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1560" y="507492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074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14600" y="4983480"/>
            <a:ext cx="8531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Admin does not reach into an organization's content directly. They act as a member of it — permission-checked, org-scoped, and written to the audit trail with both identities. Support access without a back door.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organization gets its own shape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a product surface, not a professional-services engagement.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219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2951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8541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Types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67919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Org-defined categories that also drive which fields an idea asks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024" y="196596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7344" y="22219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0496" y="22951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824" y="218541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57344" y="267919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org-owned impact scale rendered as a colour chip on every card.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0248" y="196596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4568" y="22219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7720" y="229514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6048" y="218541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Statuses &amp; boards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54568" y="267919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boards, each with its own ordered statuses and swimlanes.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84048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09651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" y="41696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05993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0120" y="455371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org-scoped, created inline — up to ten per idea.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3024" y="384048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7344" y="409651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0496" y="41696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8824" y="405993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fields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657344" y="455371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fields per idea type, without a schema change or a release.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0248" y="3840480"/>
            <a:ext cx="342290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4568" y="409651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E1F1F2"/>
          </a:solidFill>
          <a:ln w="12700">
            <a:solidFill>
              <a:srgbClr val="E1F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7720" y="41696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6048" y="4059936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scope statement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354568" y="4553712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from an Org Admin that narrows what the assistant will discuss.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58064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soft-delete rather than vanish, so historical ideas keep their meaning after a reconfiguration.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architecture, on purpose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layers, one identity chokepoint, and business rules that live nowhere near the UI.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97480" y="1965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WebAssembly · Fluent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965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and interacts. No business rules.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706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770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7706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request boundary. Identity resolved in exactly one place.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575304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753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35753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5753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authorization, validation — the rules live 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379976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799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43799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invariants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43799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nothing. The part that outlives the stack.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74066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846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51846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· 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51846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and integrations, behind abstractions.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58200" y="1965960"/>
            <a:ext cx="3044952" cy="387705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32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732520" y="2697480"/>
            <a:ext cx="24963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cannot be bypassed by calling a different endpoint — it is not in the endpoint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chokepoint means impersonation and scoping cannot be silently opted out of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is a client of the same rules, not a second write path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a database engine was a sprint, not a rewrite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handed to an organization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unglamorous properties that decide whether a tool survives its first security review.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21408"/>
            <a:ext cx="146304" cy="14630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20440" y="198424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mutation resolves the caller's organization from their token. Cross-organization reads are not a configuration option.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10817352" cy="9144"/>
          </a:xfrm>
          <a:prstGeom prst="rect">
            <a:avLst/>
          </a:prstGeom>
          <a:solidFill>
            <a:srgbClr val="E4E2D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03580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3145536"/>
            <a:ext cx="146304" cy="14630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990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30083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action taken inside an organization is recorded against both the acting administrator and the identity they acted 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0817352" cy="9144"/>
          </a:xfrm>
          <a:prstGeom prst="rect">
            <a:avLst/>
          </a:prstGeom>
          <a:solidFill>
            <a:srgbClr val="E4E2D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599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169664"/>
            <a:ext cx="146304" cy="14630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01421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403250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Organizations, ideas and configuration options are archived or soft-deleted, never hard-deleted out from under history.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910328"/>
            <a:ext cx="10817352" cy="9144"/>
          </a:xfrm>
          <a:prstGeom prst="rect">
            <a:avLst/>
          </a:prstGeom>
          <a:solidFill>
            <a:srgbClr val="E4E2DF"/>
          </a:solidFill>
          <a:ln w="12700">
            <a:solidFill>
              <a:srgbClr val="E4E2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084064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5193792"/>
            <a:ext cx="146304" cy="14630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0383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policy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20440" y="50566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token expiry, idle timeout with warning and countdown, and password change that revokes the live session.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and SAML are sequenced deliberately — after the tenancy and audit model they would otherwise be layered onto.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prototype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across every layer, with the test suite weighted toward the layers that hold the rules.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201168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011680"/>
            <a:ext cx="3730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212140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5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627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281160" y="21214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across the solution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273552"/>
            <a:ext cx="3730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3832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5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281160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pages, on a locked design system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4535424"/>
            <a:ext cx="3730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464515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5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9281160" y="46451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delivered, including a live database migration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58978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layer carries the most tests because it carries the most rules. That is the shape you want.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33856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so each phase stands on the one before it rather than around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2782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idea drafting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Org-tunable assistant scope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classification on the create 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024" y="196596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3064" y="224028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3064" y="22402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3064" y="2788920"/>
            <a:ext cx="2782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CI/CD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delivery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inbox and preferences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0248" y="1965960"/>
            <a:ext cx="342290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2D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00288" y="224028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0288" y="22402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00288" y="2788920"/>
            <a:ext cx="2782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sign-on, Entra ID first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for enterprise tenants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throughput, aging, engagement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84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Duplicate-idea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list requires re-opening a decision already made. The deferred items were deferred, not missed.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1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are the cheapest thing an organization owns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154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A9A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most expensive thing it loses.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gives that flow a front door, a shared language, and a visible fate — and an assistant that does the drafting work nobody wants to do at 4pm on a Thursday.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5257800"/>
            <a:ext cx="2286000" cy="310896"/>
          </a:xfrm>
          <a:prstGeom prst="roundRect">
            <a:avLst>
              <a:gd name="adj" fmla="val 47059"/>
            </a:avLst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2578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LIVE BOARD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5257800"/>
            <a:ext cx="2651760" cy="310896"/>
          </a:xfrm>
          <a:prstGeom prst="roundRect">
            <a:avLst>
              <a:gd name="adj" fmla="val 4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5257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ASSISTANT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525780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3A3C85"/>
          </a:solidFill>
          <a:ln w="12700">
            <a:solidFill>
              <a:srgbClr val="3A3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5257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" kern="0" dirty="0">
                <a:solidFill>
                  <a:srgbClr val="C9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SPECS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0" y="173736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3A3C85"/>
          </a:solidFill>
          <a:ln w="12700">
            <a:solidFill>
              <a:srgbClr val="4B4D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Collega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052560" y="2651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Organization-scoped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end to end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stays in its lane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0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Blazor · PostgreSQL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Collega — Pitch Deck</dc:title>
  <dc:subject>PptxGenJS Presentation</dc:subject>
  <dc:creator>Collega</dc:creator>
  <cp:lastModifiedBy>Collega</cp:lastModifiedBy>
  <cp:revision>1</cp:revision>
  <dcterms:created xsi:type="dcterms:W3CDTF">2026-08-16T19:51:18Z</dcterms:created>
  <dcterms:modified xsi:type="dcterms:W3CDTF">2026-08-16T19:51:18Z</dcterms:modified>
</cp:coreProperties>
</file>